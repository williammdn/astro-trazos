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8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E6AE"/>
                </a:solidFill>
                <a:latin typeface="Arial"/>
              </a:defRPr>
            </a:pPr>
            <a:r>
              <a:t>Astro-Trazos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078992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DAEAFF"/>
                </a:solidFill>
              </a:defRPr>
            </a:pPr>
            <a:r>
              <a:t>Geometría en movimiento · Proyecto de Computación Gráfica</a:t>
            </a:r>
          </a:p>
        </p:txBody>
      </p:sp>
      <p:pic>
        <p:nvPicPr>
          <p:cNvPr id="4" name="Picture 3" descr="01_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19072"/>
            <a:ext cx="7589520" cy="42702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58200" y="1691640"/>
            <a:ext cx="3108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800">
                <a:solidFill>
                  <a:srgbClr val="F7F9FF"/>
                </a:solidFill>
                <a:latin typeface="Arial"/>
              </a:defRPr>
            </a:pPr>
            <a:r>
              <a:t>• Grupo 04</a:t>
            </a:r>
          </a:p>
          <a:p>
            <a:pPr>
              <a:spcAft>
                <a:spcPts val="1800"/>
              </a:spcAft>
              <a:defRPr sz="1800">
                <a:solidFill>
                  <a:srgbClr val="F7F9FF"/>
                </a:solidFill>
                <a:latin typeface="Arial"/>
              </a:defRPr>
            </a:pPr>
            <a:r>
              <a:t>• Siete escenas jugables</a:t>
            </a:r>
          </a:p>
          <a:p>
            <a:pPr>
              <a:spcAft>
                <a:spcPts val="1800"/>
              </a:spcAft>
              <a:defRPr sz="1800">
                <a:solidFill>
                  <a:srgbClr val="F7F9FF"/>
                </a:solidFill>
                <a:latin typeface="Arial"/>
              </a:defRPr>
            </a:pPr>
            <a:r>
              <a:t>• Niños de 9 a 12 años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BDE3"/>
                </a:solidFill>
              </a:defRPr>
            </a:pPr>
            <a:r>
              <a:t>ASTRO-TRAZOS  ·  UNAJMA 2026-II                                         01/10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8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E6AE"/>
                </a:solidFill>
                <a:latin typeface="Arial"/>
              </a:defRPr>
            </a:pPr>
            <a:r>
              <a:t>Problema y propósito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078992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DAEAFF"/>
                </a:solidFill>
              </a:defRPr>
            </a:pPr>
            <a:r>
              <a:t>Que una construcción geométrica produzca un resultado visible</a:t>
            </a:r>
          </a:p>
        </p:txBody>
      </p:sp>
      <p:pic>
        <p:nvPicPr>
          <p:cNvPr id="4" name="Picture 3" descr="02_despeg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19072"/>
            <a:ext cx="7589520" cy="42702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58200" y="1691640"/>
            <a:ext cx="3108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800">
                <a:solidFill>
                  <a:srgbClr val="F7F9FF"/>
                </a:solidFill>
                <a:latin typeface="Arial"/>
              </a:defRPr>
            </a:pPr>
            <a:r>
              <a:t>• Dibujar</a:t>
            </a:r>
          </a:p>
          <a:p>
            <a:pPr>
              <a:spcAft>
                <a:spcPts val="1800"/>
              </a:spcAft>
              <a:defRPr sz="1800">
                <a:solidFill>
                  <a:srgbClr val="F7F9FF"/>
                </a:solidFill>
                <a:latin typeface="Arial"/>
              </a:defRPr>
            </a:pPr>
            <a:r>
              <a:t>• Probar</a:t>
            </a:r>
          </a:p>
          <a:p>
            <a:pPr>
              <a:spcAft>
                <a:spcPts val="1800"/>
              </a:spcAft>
              <a:defRPr sz="1800">
                <a:solidFill>
                  <a:srgbClr val="F7F9FF"/>
                </a:solidFill>
                <a:latin typeface="Arial"/>
              </a:defRPr>
            </a:pPr>
            <a:r>
              <a:t>• Observar</a:t>
            </a:r>
          </a:p>
          <a:p>
            <a:pPr>
              <a:spcAft>
                <a:spcPts val="1800"/>
              </a:spcAft>
              <a:defRPr sz="1800">
                <a:solidFill>
                  <a:srgbClr val="F7F9FF"/>
                </a:solidFill>
                <a:latin typeface="Arial"/>
              </a:defRPr>
            </a:pPr>
            <a:r>
              <a:t>• Ajustar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BDE3"/>
                </a:solidFill>
              </a:defRPr>
            </a:pPr>
            <a:r>
              <a:t>ASTRO-TRAZOS  ·  UNAJMA 2026-II                                         02/10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8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E6AE"/>
                </a:solidFill>
                <a:latin typeface="Arial"/>
              </a:defRPr>
            </a:pPr>
            <a:r>
              <a:t>Mecánica central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078992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DAEAFF"/>
                </a:solidFill>
              </a:defRPr>
            </a:pPr>
            <a:r>
              <a:t>El pincel crea objetos medibles</a:t>
            </a:r>
          </a:p>
        </p:txBody>
      </p:sp>
      <p:pic>
        <p:nvPicPr>
          <p:cNvPr id="4" name="Picture 3" descr="03_ve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19072"/>
            <a:ext cx="7589520" cy="42702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58200" y="1691640"/>
            <a:ext cx="3108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800">
                <a:solidFill>
                  <a:srgbClr val="F7F9FF"/>
                </a:solidFill>
                <a:latin typeface="Arial"/>
              </a:defRPr>
            </a:pPr>
            <a:r>
              <a:t>• Trazos aproximados se ajustan</a:t>
            </a:r>
          </a:p>
          <a:p>
            <a:pPr>
              <a:spcAft>
                <a:spcPts val="1800"/>
              </a:spcAft>
              <a:defRPr sz="1800">
                <a:solidFill>
                  <a:srgbClr val="F7F9FF"/>
                </a:solidFill>
                <a:latin typeface="Arial"/>
              </a:defRPr>
            </a:pPr>
            <a:r>
              <a:t>• Las medidas gobiernan la simulación</a:t>
            </a:r>
          </a:p>
          <a:p>
            <a:pPr>
              <a:spcAft>
                <a:spcPts val="1800"/>
              </a:spcAft>
              <a:defRPr sz="1800">
                <a:solidFill>
                  <a:srgbClr val="F7F9FF"/>
                </a:solidFill>
                <a:latin typeface="Arial"/>
              </a:defRPr>
            </a:pPr>
            <a:r>
              <a:t>• El error también se pone a prueba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BDE3"/>
                </a:solidFill>
              </a:defRPr>
            </a:pPr>
            <a:r>
              <a:t>ASTRO-TRAZOS  ·  UNAJMA 2026-II                                         03/10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8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E6AE"/>
                </a:solidFill>
                <a:latin typeface="Arial"/>
              </a:defRPr>
            </a:pPr>
            <a:r>
              <a:t>Siete desafíos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078992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DAEAFF"/>
                </a:solidFill>
              </a:defRPr>
            </a:pPr>
            <a:r>
              <a:t>Una propiedad distinta en cada escena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300">
                <a:solidFill>
                  <a:srgbClr val="F7F9FF"/>
                </a:solidFill>
                <a:latin typeface="Arial"/>
              </a:defRPr>
            </a:pPr>
            <a:r>
              <a:t>• Ruta: longitud y pendiente   •   Vector: dirección</a:t>
            </a:r>
          </a:p>
          <a:p>
            <a:pPr>
              <a:spcAft>
                <a:spcPts val="1800"/>
              </a:spcAft>
              <a:defRPr sz="2300">
                <a:solidFill>
                  <a:srgbClr val="F7F9FF"/>
                </a:solidFill>
                <a:latin typeface="Arial"/>
              </a:defRPr>
            </a:pPr>
            <a:r>
              <a:t>• Rampa: ángulo   •   Balanza: área</a:t>
            </a:r>
          </a:p>
          <a:p>
            <a:pPr>
              <a:spcAft>
                <a:spcPts val="1800"/>
              </a:spcAft>
              <a:defRPr sz="2300">
                <a:solidFill>
                  <a:srgbClr val="F7F9FF"/>
                </a:solidFill>
                <a:latin typeface="Arial"/>
              </a:defRPr>
            </a:pPr>
            <a:r>
              <a:t>• Láseres: intersección   •   Escudo: polígono</a:t>
            </a:r>
          </a:p>
          <a:p>
            <a:pPr>
              <a:spcAft>
                <a:spcPts val="1800"/>
              </a:spcAft>
              <a:defRPr sz="2300">
                <a:solidFill>
                  <a:srgbClr val="F7F9FF"/>
                </a:solidFill>
                <a:latin typeface="Arial"/>
              </a:defRPr>
            </a:pPr>
            <a:r>
              <a:t>• Órbita: radio y 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BDE3"/>
                </a:solidFill>
              </a:defRPr>
            </a:pPr>
            <a:r>
              <a:t>ASTRO-TRAZOS  ·  UNAJMA 2026-II                                         04/10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8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E6AE"/>
                </a:solidFill>
                <a:latin typeface="Arial"/>
              </a:defRPr>
            </a:pPr>
            <a:r>
              <a:t>Ejemplo: El peso justo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078992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DAEAFF"/>
                </a:solidFill>
              </a:defRPr>
            </a:pPr>
            <a:r>
              <a:t>40 u × 30 u = 1200 u²</a:t>
            </a:r>
          </a:p>
        </p:txBody>
      </p:sp>
      <p:pic>
        <p:nvPicPr>
          <p:cNvPr id="4" name="Picture 3" descr="09_peso_constru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19072"/>
            <a:ext cx="7589520" cy="42702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58200" y="1691640"/>
            <a:ext cx="3108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800">
                <a:solidFill>
                  <a:srgbClr val="F7F9FF"/>
                </a:solidFill>
                <a:latin typeface="Arial"/>
              </a:defRPr>
            </a:pPr>
            <a:r>
              <a:t>• Medidas mientras arrastras</a:t>
            </a:r>
          </a:p>
          <a:p>
            <a:pPr>
              <a:spcAft>
                <a:spcPts val="1800"/>
              </a:spcAft>
              <a:defRPr sz="1800">
                <a:solidFill>
                  <a:srgbClr val="F7F9FF"/>
                </a:solidFill>
                <a:latin typeface="Arial"/>
              </a:defRPr>
            </a:pPr>
            <a:r>
              <a:t>• Pasos de 5 unidades</a:t>
            </a:r>
          </a:p>
          <a:p>
            <a:pPr>
              <a:spcAft>
                <a:spcPts val="1800"/>
              </a:spcAft>
              <a:defRPr sz="1800">
                <a:solidFill>
                  <a:srgbClr val="F7F9FF"/>
                </a:solidFill>
                <a:latin typeface="Arial"/>
              </a:defRPr>
            </a:pPr>
            <a:r>
              <a:t>• La balanza reacciona al área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BDE3"/>
                </a:solidFill>
              </a:defRPr>
            </a:pPr>
            <a:r>
              <a:t>ASTRO-TRAZOS  ·  UNAJMA 2026-II                                         05/10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8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E6AE"/>
                </a:solidFill>
                <a:latin typeface="Arial"/>
              </a:defRPr>
            </a:pPr>
            <a:r>
              <a:t>Intersección que funciona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078992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DAEAFF"/>
                </a:solidFill>
              </a:defRPr>
            </a:pPr>
            <a:r>
              <a:t>Una barrera detiene un láser donde lo cruza</a:t>
            </a:r>
          </a:p>
        </p:txBody>
      </p:sp>
      <p:pic>
        <p:nvPicPr>
          <p:cNvPr id="4" name="Picture 3" descr="06_ray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19072"/>
            <a:ext cx="7589520" cy="42702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58200" y="1691640"/>
            <a:ext cx="3108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800">
                <a:solidFill>
                  <a:srgbClr val="F7F9FF"/>
                </a:solidFill>
                <a:latin typeface="Arial"/>
              </a:defRPr>
            </a:pPr>
            <a:r>
              <a:t>• AABB descarta pares lejanos</a:t>
            </a:r>
          </a:p>
          <a:p>
            <a:pPr>
              <a:spcAft>
                <a:spcPts val="1800"/>
              </a:spcAft>
              <a:defRPr sz="1800">
                <a:solidFill>
                  <a:srgbClr val="F7F9FF"/>
                </a:solidFill>
                <a:latin typeface="Arial"/>
              </a:defRPr>
            </a:pPr>
            <a:r>
              <a:t>• Intersección calcula el punto</a:t>
            </a:r>
          </a:p>
          <a:p>
            <a:pPr>
              <a:spcAft>
                <a:spcPts val="1800"/>
              </a:spcAft>
              <a:defRPr sz="1800">
                <a:solidFill>
                  <a:srgbClr val="F7F9FF"/>
                </a:solidFill>
                <a:latin typeface="Arial"/>
              </a:defRPr>
            </a:pPr>
            <a:r>
              <a:t>• El haz termina en ese punto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BDE3"/>
                </a:solidFill>
              </a:defRPr>
            </a:pPr>
            <a:r>
              <a:t>ASTRO-TRAZOS  ·  UNAJMA 2026-II                                         06/10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8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E6AE"/>
                </a:solidFill>
                <a:latin typeface="Arial"/>
              </a:defRPr>
            </a:pPr>
            <a:r>
              <a:t>Algoritmos gráficos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078992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DAEAFF"/>
                </a:solidFill>
              </a:defRPr>
            </a:pPr>
            <a:r>
              <a:t>Técnicas solicitadas para el tema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300">
                <a:solidFill>
                  <a:srgbClr val="F7F9FF"/>
                </a:solidFill>
                <a:latin typeface="Arial"/>
              </a:defRPr>
            </a:pPr>
            <a:r>
              <a:t>• Transformación: M = T · R · S (matriz 3 × 3)</a:t>
            </a:r>
          </a:p>
          <a:p>
            <a:pPr>
              <a:spcAft>
                <a:spcPts val="1800"/>
              </a:spcAft>
              <a:defRPr sz="2300">
                <a:solidFill>
                  <a:srgbClr val="F7F9FF"/>
                </a:solidFill>
                <a:latin typeface="Arial"/>
              </a:defRPr>
            </a:pPr>
            <a:r>
              <a:t>• Clipping: Cohen–Sutherland; c₁ &amp; c₂ ≠ 0 → rechazar</a:t>
            </a:r>
          </a:p>
          <a:p>
            <a:pPr>
              <a:spcAft>
                <a:spcPts val="1800"/>
              </a:spcAft>
              <a:defRPr sz="2300">
                <a:solidFill>
                  <a:srgbClr val="F7F9FF"/>
                </a:solidFill>
                <a:latin typeface="Arial"/>
              </a:defRPr>
            </a:pPr>
            <a:r>
              <a:t>• Colisión: t = ((q−p) × s) / (r × s)</a:t>
            </a:r>
          </a:p>
          <a:p>
            <a:pPr>
              <a:spcAft>
                <a:spcPts val="1800"/>
              </a:spcAft>
              <a:defRPr sz="2300">
                <a:solidFill>
                  <a:srgbClr val="F7F9FF"/>
                </a:solidFill>
                <a:latin typeface="Arial"/>
              </a:defRPr>
            </a:pPr>
            <a:r>
              <a:t>• Área: A = base × altura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BDE3"/>
                </a:solidFill>
              </a:defRPr>
            </a:pPr>
            <a:r>
              <a:t>ASTRO-TRAZOS  ·  UNAJMA 2026-II                                         07/10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8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E6AE"/>
                </a:solidFill>
                <a:latin typeface="Arial"/>
              </a:defRPr>
            </a:pPr>
            <a:r>
              <a:t>Arquitectura y verificación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078992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DAEAFF"/>
                </a:solidFill>
              </a:defRPr>
            </a:pPr>
            <a:r>
              <a:t>Del puntero al resultado</a:t>
            </a:r>
          </a:p>
        </p:txBody>
      </p:sp>
      <p:pic>
        <p:nvPicPr>
          <p:cNvPr id="4" name="Picture 3" descr="07_poligon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19072"/>
            <a:ext cx="7589520" cy="42702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58200" y="1691640"/>
            <a:ext cx="3108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800">
                <a:solidFill>
                  <a:srgbClr val="F7F9FF"/>
                </a:solidFill>
                <a:latin typeface="Arial"/>
              </a:defRPr>
            </a:pPr>
            <a:r>
              <a:t>• Puntero → ajuste → medida → evaluación → animación</a:t>
            </a:r>
          </a:p>
          <a:p>
            <a:pPr>
              <a:spcAft>
                <a:spcPts val="1800"/>
              </a:spcAft>
              <a:defRPr sz="1800">
                <a:solidFill>
                  <a:srgbClr val="F7F9FF"/>
                </a:solidFill>
                <a:latin typeface="Arial"/>
              </a:defRPr>
            </a:pPr>
            <a:r>
              <a:t>• Node 24 · Vite 8 · Vitest 5</a:t>
            </a:r>
          </a:p>
          <a:p>
            <a:pPr>
              <a:spcAft>
                <a:spcPts val="1800"/>
              </a:spcAft>
              <a:defRPr sz="1800">
                <a:solidFill>
                  <a:srgbClr val="F7F9FF"/>
                </a:solidFill>
                <a:latin typeface="Arial"/>
              </a:defRPr>
            </a:pPr>
            <a:r>
              <a:t>• 17 pruebas aprobadas · lint limpio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BDE3"/>
                </a:solidFill>
              </a:defRPr>
            </a:pPr>
            <a:r>
              <a:t>ASTRO-TRAZOS  ·  UNAJMA 2026-II                                         08/10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8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E6AE"/>
                </a:solidFill>
                <a:latin typeface="Arial"/>
              </a:defRPr>
            </a:pPr>
            <a:r>
              <a:t>RSU documentada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078992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DAEAFF"/>
                </a:solidFill>
              </a:defRPr>
            </a:pPr>
            <a:r>
              <a:t>Jornada virtual del 18 de octubre de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300">
                <a:solidFill>
                  <a:srgbClr val="F7F9FF"/>
                </a:solidFill>
                <a:latin typeface="Arial"/>
              </a:defRPr>
            </a:pPr>
            <a:r>
              <a:t>• Academia Virtual DAEMON</a:t>
            </a:r>
          </a:p>
          <a:p>
            <a:pPr>
              <a:spcAft>
                <a:spcPts val="1800"/>
              </a:spcAft>
              <a:defRPr sz="2300">
                <a:solidFill>
                  <a:srgbClr val="F7F9FF"/>
                </a:solidFill>
                <a:latin typeface="Arial"/>
              </a:defRPr>
            </a:pPr>
            <a:r>
              <a:t>• Siete estudiantes identificados por códigos</a:t>
            </a:r>
          </a:p>
          <a:p>
            <a:pPr>
              <a:spcAft>
                <a:spcPts val="1800"/>
              </a:spcAft>
              <a:defRPr sz="2300">
                <a:solidFill>
                  <a:srgbClr val="F7F9FF"/>
                </a:solidFill>
                <a:latin typeface="Arial"/>
              </a:defRPr>
            </a:pPr>
            <a:r>
              <a:t>• Capturas de menú, desafío y cierre</a:t>
            </a:r>
          </a:p>
          <a:p>
            <a:pPr>
              <a:spcAft>
                <a:spcPts val="1800"/>
              </a:spcAft>
              <a:defRPr sz="2300">
                <a:solidFill>
                  <a:srgbClr val="F7F9FF"/>
                </a:solidFill>
                <a:latin typeface="Arial"/>
              </a:defRPr>
            </a:pPr>
            <a:r>
              <a:t>• Sin medición de aprendizaje pre/post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BDE3"/>
                </a:solidFill>
              </a:defRPr>
            </a:pPr>
            <a:r>
              <a:t>ASTRO-TRAZOS  ·  UNAJMA 2026-II                                         09/10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8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E6AE"/>
                </a:solidFill>
                <a:latin typeface="Arial"/>
              </a:defRPr>
            </a:pPr>
            <a:r>
              <a:t>Demostración y próximos pasos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078992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DAEAFF"/>
                </a:solidFill>
              </a:defRPr>
            </a:pPr>
            <a:r>
              <a:t>Construir, explicar y comprobar</a:t>
            </a:r>
          </a:p>
        </p:txBody>
      </p:sp>
      <p:pic>
        <p:nvPicPr>
          <p:cNvPr id="4" name="Picture 3" descr="08_orbi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19072"/>
            <a:ext cx="7589520" cy="42702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58200" y="1691640"/>
            <a:ext cx="3108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800">
                <a:solidFill>
                  <a:srgbClr val="F7F9FF"/>
                </a:solidFill>
                <a:latin typeface="Arial"/>
              </a:defRPr>
            </a:pPr>
            <a:r>
              <a:t>• Demo sin conexión disponible</a:t>
            </a:r>
          </a:p>
          <a:p>
            <a:pPr>
              <a:spcAft>
                <a:spcPts val="1800"/>
              </a:spcAft>
              <a:defRPr sz="1800">
                <a:solidFill>
                  <a:srgbClr val="F7F9FF"/>
                </a:solidFill>
                <a:latin typeface="Arial"/>
              </a:defRPr>
            </a:pPr>
            <a:r>
              <a:t>• Ensayo pendiente en Laboratorio 05</a:t>
            </a:r>
          </a:p>
          <a:p>
            <a:pPr>
              <a:spcAft>
                <a:spcPts val="1800"/>
              </a:spcAft>
              <a:defRPr sz="1800">
                <a:solidFill>
                  <a:srgbClr val="F7F9FF"/>
                </a:solidFill>
                <a:latin typeface="Arial"/>
              </a:defRPr>
            </a:pPr>
            <a:r>
              <a:t>• Rúbrica de aprendizaje por aplicar</a:t>
            </a:r>
          </a:p>
          <a:p>
            <a:pPr>
              <a:spcAft>
                <a:spcPts val="1800"/>
              </a:spcAft>
              <a:defRPr sz="1800">
                <a:solidFill>
                  <a:srgbClr val="F7F9FF"/>
                </a:solidFill>
                <a:latin typeface="Arial"/>
              </a:defRPr>
            </a:pPr>
            <a:r>
              <a:t>• Firma de constancia pendiente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BDE3"/>
                </a:solidFill>
              </a:defRPr>
            </a:pPr>
            <a:r>
              <a:t>ASTRO-TRAZOS  ·  UNAJMA 2026-II                                         10/10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